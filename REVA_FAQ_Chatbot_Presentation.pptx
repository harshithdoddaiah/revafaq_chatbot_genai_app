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14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44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2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8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34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80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2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2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2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8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1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58975"/>
            <a:ext cx="7772400" cy="1470025"/>
          </a:xfrm>
        </p:spPr>
        <p:txBody>
          <a:bodyPr/>
          <a:lstStyle/>
          <a:p>
            <a:r>
              <a:rPr dirty="0"/>
              <a:t>REVA FAQ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98651"/>
            <a:ext cx="6400800" cy="1357009"/>
          </a:xfrm>
        </p:spPr>
        <p:txBody>
          <a:bodyPr>
            <a:normAutofit/>
          </a:bodyPr>
          <a:lstStyle/>
          <a:p>
            <a:r>
              <a:rPr sz="2000" dirty="0"/>
              <a:t>From Web Scraping to AI-powered Chatbot with Azure and LangChain</a:t>
            </a:r>
          </a:p>
          <a:p>
            <a:r>
              <a:rPr sz="2000" dirty="0"/>
              <a:t>Harshith D</a:t>
            </a:r>
            <a:r>
              <a:rPr lang="en-US" sz="2000" dirty="0"/>
              <a:t> 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400"/>
            </a:pPr>
            <a:r>
              <a:rPr sz="2000" dirty="0"/>
              <a:t>Goal: Create a chatbot that answers FAQs from REVA University’s website</a:t>
            </a:r>
          </a:p>
          <a:p>
            <a:pPr>
              <a:defRPr sz="1400"/>
            </a:pPr>
            <a:r>
              <a:rPr sz="2000" dirty="0"/>
              <a:t>Tech Stack: Python, BeautifulSoup, Pandas, Azure Table Storage, Azure </a:t>
            </a:r>
            <a:r>
              <a:rPr lang="en-US" sz="2000" dirty="0"/>
              <a:t>AI</a:t>
            </a:r>
            <a:r>
              <a:rPr sz="2000" dirty="0"/>
              <a:t> Search, Streamlit, LangChain, Azure OpenAI</a:t>
            </a:r>
          </a:p>
          <a:p>
            <a:pPr>
              <a:defRPr sz="1400"/>
            </a:pPr>
            <a:r>
              <a:rPr sz="2000" dirty="0"/>
              <a:t>Process Flow:</a:t>
            </a:r>
          </a:p>
          <a:p>
            <a:pPr>
              <a:defRPr sz="1400"/>
            </a:pPr>
            <a:r>
              <a:rPr sz="2000" dirty="0"/>
              <a:t>  1. Scrape data from website</a:t>
            </a:r>
          </a:p>
          <a:p>
            <a:pPr>
              <a:defRPr sz="1400"/>
            </a:pPr>
            <a:r>
              <a:rPr sz="2000" dirty="0"/>
              <a:t>  2. Store in Azure Table Storage</a:t>
            </a:r>
          </a:p>
          <a:p>
            <a:pPr>
              <a:defRPr sz="1400"/>
            </a:pPr>
            <a:r>
              <a:rPr sz="2000" dirty="0"/>
              <a:t>  3. Index with Azure Cognitive Search</a:t>
            </a:r>
          </a:p>
          <a:p>
            <a:pPr>
              <a:defRPr sz="1400"/>
            </a:pPr>
            <a:r>
              <a:rPr sz="2000" dirty="0"/>
              <a:t>  4. Query with AI chatbot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22" y="157565"/>
            <a:ext cx="5937755" cy="1188720"/>
          </a:xfrm>
        </p:spPr>
        <p:txBody>
          <a:bodyPr/>
          <a:lstStyle/>
          <a:p>
            <a:r>
              <a:rPr dirty="0"/>
              <a:t>Final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0005"/>
            <a:ext cx="8229600" cy="4525963"/>
          </a:xfrm>
        </p:spPr>
        <p:txBody>
          <a:bodyPr>
            <a:normAutofit/>
          </a:bodyPr>
          <a:lstStyle/>
          <a:p>
            <a:pPr>
              <a:defRPr sz="1400"/>
            </a:pPr>
            <a:r>
              <a:rPr sz="2000" dirty="0"/>
              <a:t>Flow:</a:t>
            </a:r>
          </a:p>
          <a:p>
            <a:pPr>
              <a:defRPr sz="1400"/>
            </a:pPr>
            <a:r>
              <a:rPr sz="2000" dirty="0"/>
              <a:t>1. Website → Web Scraper → CSV</a:t>
            </a:r>
          </a:p>
          <a:p>
            <a:pPr>
              <a:defRPr sz="1400"/>
            </a:pPr>
            <a:r>
              <a:rPr sz="2000" dirty="0"/>
              <a:t>2. CSV → Azure Table Storage</a:t>
            </a:r>
          </a:p>
          <a:p>
            <a:pPr>
              <a:defRPr sz="1400"/>
            </a:pPr>
            <a:r>
              <a:rPr sz="2000" dirty="0"/>
              <a:t>3. Table Storage → Azure Cognitive Search (Index)</a:t>
            </a:r>
          </a:p>
          <a:p>
            <a:pPr>
              <a:defRPr sz="1400"/>
            </a:pPr>
            <a:r>
              <a:rPr sz="2000" dirty="0"/>
              <a:t>4. Streamlit → LangChain → Azure OpenAI → User</a:t>
            </a:r>
          </a:p>
        </p:txBody>
      </p:sp>
      <p:pic>
        <p:nvPicPr>
          <p:cNvPr id="5" name="Picture 4" descr="A diagram of a cloud computing process&#10;&#10;AI-generated content may be incorrect.">
            <a:extLst>
              <a:ext uri="{FF2B5EF4-FFF2-40B4-BE49-F238E27FC236}">
                <a16:creationId xmlns:a16="http://schemas.microsoft.com/office/drawing/2014/main" id="{5B184B44-1D8E-1FF7-FAD4-B9A0AFCE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30" y="3429000"/>
            <a:ext cx="6801140" cy="30648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400"/>
            </a:pPr>
            <a:r>
              <a:rPr sz="2000" dirty="0"/>
              <a:t>Tool Used: requests + BeautifulSoup</a:t>
            </a:r>
          </a:p>
          <a:p>
            <a:pPr>
              <a:defRPr sz="1400"/>
            </a:pPr>
            <a:r>
              <a:rPr sz="2000" dirty="0"/>
              <a:t>Purpose: Extract FAQ questions &amp; answers from https://www.reva.edu.in/faq</a:t>
            </a:r>
          </a:p>
          <a:p>
            <a:pPr>
              <a:defRPr sz="1400"/>
            </a:pPr>
            <a:r>
              <a:rPr sz="2000" dirty="0"/>
              <a:t>Key Code Points:</a:t>
            </a:r>
          </a:p>
          <a:p>
            <a:pPr>
              <a:defRPr sz="1400"/>
            </a:pPr>
            <a:r>
              <a:rPr sz="2000" dirty="0"/>
              <a:t>  - Identify HTML tags for Q&amp;A</a:t>
            </a:r>
          </a:p>
          <a:p>
            <a:pPr>
              <a:defRPr sz="1400"/>
            </a:pPr>
            <a:r>
              <a:rPr sz="2000" dirty="0"/>
              <a:t>  - Handle collapse panels in Bootstrap</a:t>
            </a:r>
          </a:p>
          <a:p>
            <a:pPr>
              <a:defRPr sz="1400"/>
            </a:pPr>
            <a:r>
              <a:rPr sz="2000" dirty="0"/>
              <a:t>  - Save to CSV (reva_faq_output.csv)</a:t>
            </a:r>
          </a:p>
          <a:p>
            <a:pPr>
              <a:defRPr sz="1400"/>
            </a:pPr>
            <a:r>
              <a:rPr sz="2000" dirty="0"/>
              <a:t>Output: CSV with columns Question and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Step 2: Storing in Azure Table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1400"/>
            </a:pPr>
            <a:r>
              <a:rPr sz="2400" dirty="0"/>
              <a:t>Tool Used: azure.data.tables</a:t>
            </a:r>
          </a:p>
          <a:p>
            <a:pPr>
              <a:defRPr sz="1400"/>
            </a:pPr>
            <a:r>
              <a:rPr sz="2400" dirty="0"/>
              <a:t>Purpose: Store structured FAQ data for indexing</a:t>
            </a:r>
          </a:p>
          <a:p>
            <a:pPr>
              <a:defRPr sz="1400"/>
            </a:pPr>
            <a:r>
              <a:rPr sz="2400" dirty="0"/>
              <a:t>Key Code Points:</a:t>
            </a:r>
          </a:p>
          <a:p>
            <a:pPr>
              <a:defRPr sz="1400"/>
            </a:pPr>
            <a:r>
              <a:rPr sz="2400" dirty="0"/>
              <a:t>  - Create Azure Table if not exists</a:t>
            </a:r>
          </a:p>
          <a:p>
            <a:pPr>
              <a:defRPr sz="1400"/>
            </a:pPr>
            <a:r>
              <a:rPr sz="2400" dirty="0"/>
              <a:t>  - Use PartitionKey and RowKey (UUID for uniqueness)</a:t>
            </a:r>
          </a:p>
          <a:p>
            <a:pPr>
              <a:defRPr sz="1400"/>
            </a:pPr>
            <a:r>
              <a:rPr sz="2400" dirty="0"/>
              <a:t>  - Insert rows from CSV into table</a:t>
            </a:r>
          </a:p>
          <a:p>
            <a:pPr>
              <a:defRPr sz="1400"/>
            </a:pPr>
            <a:r>
              <a:rPr sz="2400" dirty="0"/>
              <a:t>Benefits: Scalable NoSQL storage for structured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22" y="523612"/>
            <a:ext cx="5937755" cy="1188720"/>
          </a:xfrm>
        </p:spPr>
        <p:txBody>
          <a:bodyPr>
            <a:normAutofit/>
          </a:bodyPr>
          <a:lstStyle/>
          <a:p>
            <a:r>
              <a:rPr dirty="0"/>
              <a:t>Step 3: Indexing with Azure Cognitive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034931"/>
            <a:ext cx="5937755" cy="3101983"/>
          </a:xfrm>
        </p:spPr>
        <p:txBody>
          <a:bodyPr>
            <a:noAutofit/>
          </a:bodyPr>
          <a:lstStyle/>
          <a:p>
            <a:pPr>
              <a:defRPr sz="1400"/>
            </a:pPr>
            <a:r>
              <a:rPr sz="2000" dirty="0"/>
              <a:t>Purpose: Enable keyword &amp; semantic search over FAQs</a:t>
            </a:r>
          </a:p>
          <a:p>
            <a:pPr>
              <a:defRPr sz="1400"/>
            </a:pPr>
            <a:r>
              <a:rPr sz="2000" dirty="0"/>
              <a:t>Steps:</a:t>
            </a:r>
          </a:p>
          <a:p>
            <a:pPr>
              <a:defRPr sz="1400"/>
            </a:pPr>
            <a:r>
              <a:rPr sz="2000" dirty="0"/>
              <a:t>  1. Create an index in Azure AI Search (</a:t>
            </a:r>
            <a:r>
              <a:rPr sz="2000" dirty="0" err="1"/>
              <a:t>azuretable</a:t>
            </a:r>
            <a:r>
              <a:rPr sz="2000" dirty="0"/>
              <a:t>-index)</a:t>
            </a:r>
          </a:p>
          <a:p>
            <a:pPr>
              <a:defRPr sz="1400"/>
            </a:pPr>
            <a:r>
              <a:rPr sz="2000" dirty="0"/>
              <a:t>  2. Add data source → Azure Table Storage</a:t>
            </a:r>
          </a:p>
          <a:p>
            <a:pPr>
              <a:defRPr sz="1400"/>
            </a:pPr>
            <a:r>
              <a:rPr sz="2000" dirty="0"/>
              <a:t>  3. Create indexer to sync data</a:t>
            </a:r>
          </a:p>
          <a:p>
            <a:pPr>
              <a:defRPr sz="1400"/>
            </a:pPr>
            <a:r>
              <a:rPr sz="2000" dirty="0"/>
              <a:t>Fields:</a:t>
            </a:r>
          </a:p>
          <a:p>
            <a:pPr>
              <a:defRPr sz="1400"/>
            </a:pPr>
            <a:r>
              <a:rPr sz="2000" dirty="0"/>
              <a:t>  - Question (searchable)</a:t>
            </a:r>
          </a:p>
          <a:p>
            <a:pPr>
              <a:defRPr sz="1400"/>
            </a:pPr>
            <a:r>
              <a:rPr sz="2000" dirty="0"/>
              <a:t>  - Answer (retrievable)</a:t>
            </a:r>
          </a:p>
          <a:p>
            <a:pPr>
              <a:defRPr sz="1400"/>
            </a:pPr>
            <a:r>
              <a:rPr sz="2000" dirty="0"/>
              <a:t>Output: Search-ready dataset for chatbot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22" y="225390"/>
            <a:ext cx="5937755" cy="1188720"/>
          </a:xfrm>
        </p:spPr>
        <p:txBody>
          <a:bodyPr>
            <a:normAutofit/>
          </a:bodyPr>
          <a:lstStyle/>
          <a:p>
            <a:r>
              <a:rPr dirty="0"/>
              <a:t>Step 4: Building the Chatbot (Streamlit + LangChain)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1560025"/>
            <a:ext cx="5937755" cy="3101983"/>
          </a:xfrm>
        </p:spPr>
        <p:txBody>
          <a:bodyPr>
            <a:noAutofit/>
          </a:bodyPr>
          <a:lstStyle/>
          <a:p>
            <a:pPr>
              <a:defRPr sz="1400"/>
            </a:pPr>
            <a:r>
              <a:rPr sz="2000" dirty="0"/>
              <a:t>Tool Used: Streamlit UI + LangChain pipeline</a:t>
            </a:r>
          </a:p>
          <a:p>
            <a:pPr>
              <a:defRPr sz="1400"/>
            </a:pPr>
            <a:r>
              <a:rPr sz="2000" dirty="0"/>
              <a:t>Retriever: AzureAISearchRetriever → fetch top 3 answers from azuretable-index</a:t>
            </a:r>
          </a:p>
          <a:p>
            <a:pPr>
              <a:defRPr sz="1400"/>
            </a:pPr>
            <a:r>
              <a:rPr sz="2000" dirty="0"/>
              <a:t>LLM: AzureChatOpenAI → format and generate friendly answers</a:t>
            </a:r>
          </a:p>
          <a:p>
            <a:pPr>
              <a:defRPr sz="1400"/>
            </a:pPr>
            <a:r>
              <a:rPr sz="2000" dirty="0"/>
              <a:t>Prompt Template:</a:t>
            </a:r>
          </a:p>
          <a:p>
            <a:pPr>
              <a:defRPr sz="1400"/>
            </a:pPr>
            <a:r>
              <a:rPr sz="2000" dirty="0"/>
              <a:t>  Context: {context}</a:t>
            </a:r>
          </a:p>
          <a:p>
            <a:pPr>
              <a:defRPr sz="1400"/>
            </a:pPr>
            <a:r>
              <a:rPr sz="2000" dirty="0"/>
              <a:t>  Question: {question}</a:t>
            </a:r>
          </a:p>
          <a:p>
            <a:pPr>
              <a:defRPr sz="1400"/>
            </a:pPr>
            <a:r>
              <a:rPr sz="2000" dirty="0"/>
              <a:t>User Flow:</a:t>
            </a:r>
          </a:p>
          <a:p>
            <a:pPr>
              <a:defRPr sz="1400"/>
            </a:pPr>
            <a:r>
              <a:rPr sz="2000" dirty="0"/>
              <a:t>  1. User types question</a:t>
            </a:r>
          </a:p>
          <a:p>
            <a:pPr>
              <a:defRPr sz="1400"/>
            </a:pPr>
            <a:r>
              <a:rPr sz="2000" dirty="0"/>
              <a:t>  2. Retriever fetches relevant docs</a:t>
            </a:r>
          </a:p>
          <a:p>
            <a:pPr>
              <a:defRPr sz="1400"/>
            </a:pPr>
            <a:r>
              <a:rPr sz="2000" dirty="0"/>
              <a:t>  3. LLM answers based on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1400"/>
            </a:pPr>
            <a:r>
              <a:rPr sz="2400" dirty="0"/>
              <a:t>Benefits:</a:t>
            </a:r>
          </a:p>
          <a:p>
            <a:pPr>
              <a:defRPr sz="1400"/>
            </a:pPr>
            <a:r>
              <a:rPr sz="2400" dirty="0"/>
              <a:t>  - Automated FAQ updates</a:t>
            </a:r>
          </a:p>
          <a:p>
            <a:pPr>
              <a:defRPr sz="1400"/>
            </a:pPr>
            <a:r>
              <a:rPr sz="2400" dirty="0"/>
              <a:t>  - Scalable Azure backend</a:t>
            </a:r>
          </a:p>
          <a:p>
            <a:pPr>
              <a:defRPr sz="1400"/>
            </a:pPr>
            <a:r>
              <a:rPr sz="2400" dirty="0"/>
              <a:t>  - AI-powered answers</a:t>
            </a:r>
          </a:p>
          <a:p>
            <a:pPr>
              <a:defRPr sz="1400"/>
            </a:pPr>
            <a:r>
              <a:rPr sz="2400" dirty="0"/>
              <a:t>Future Enhancements:</a:t>
            </a:r>
          </a:p>
          <a:p>
            <a:pPr>
              <a:defRPr sz="1400"/>
            </a:pPr>
            <a:r>
              <a:rPr sz="2400" dirty="0"/>
              <a:t>  - Multi-language support</a:t>
            </a:r>
          </a:p>
          <a:p>
            <a:pPr>
              <a:defRPr sz="1400"/>
            </a:pPr>
            <a:r>
              <a:rPr sz="2400" dirty="0"/>
              <a:t>  - Voice chatbot integration</a:t>
            </a:r>
          </a:p>
          <a:p>
            <a:pPr>
              <a:defRPr sz="1400"/>
            </a:pPr>
            <a:r>
              <a:rPr sz="2400" dirty="0"/>
              <a:t>  - Real-time FAQ sync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090" y="1559052"/>
            <a:ext cx="770382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7D920-18AA-422F-65CC-52E9D42A9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z="2800"/>
              <a:t>Thank You</a:t>
            </a:r>
          </a:p>
        </p:txBody>
      </p:sp>
      <p:pic>
        <p:nvPicPr>
          <p:cNvPr id="10" name="Graphic 9" descr="Smiling Face with No Fill">
            <a:extLst>
              <a:ext uri="{FF2B5EF4-FFF2-40B4-BE49-F238E27FC236}">
                <a16:creationId xmlns:a16="http://schemas.microsoft.com/office/drawing/2014/main" id="{D88B3E2E-8249-339E-9E94-974F4DB8D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1051" y="2482596"/>
            <a:ext cx="2930652" cy="29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3417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115</TotalTime>
  <Words>447</Words>
  <Application>Microsoft Office PowerPoint</Application>
  <PresentationFormat>On-screen Show (4:3)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Parcel</vt:lpstr>
      <vt:lpstr>REVA FAQ Chatbot</vt:lpstr>
      <vt:lpstr>Project Overview</vt:lpstr>
      <vt:lpstr>Final Architecture Diagram</vt:lpstr>
      <vt:lpstr>Step 1: Web Scraping</vt:lpstr>
      <vt:lpstr>Step 2: Storing in Azure Table Storage</vt:lpstr>
      <vt:lpstr>Step 3: Indexing with Azure Cognitive Search</vt:lpstr>
      <vt:lpstr>Step 4: Building the Chatbot (Streamlit + LangChain)</vt:lpstr>
      <vt:lpstr>Benefits &amp; 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 D</cp:lastModifiedBy>
  <cp:revision>6</cp:revision>
  <dcterms:created xsi:type="dcterms:W3CDTF">2013-01-27T09:14:16Z</dcterms:created>
  <dcterms:modified xsi:type="dcterms:W3CDTF">2025-12-19T03:07:36Z</dcterms:modified>
  <cp:category/>
</cp:coreProperties>
</file>